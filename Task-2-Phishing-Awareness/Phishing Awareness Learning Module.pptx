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BA87B-6E56-4D07-87B4-D1879E63CCB3}" v="32" dt="2026-07-31T05:18:24.787"/>
    <p1510:client id="{B3924983-0E3C-443A-96CA-2AF87F7A9BC4}" v="3824" dt="2026-07-31T04:59:50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985CE-C57F-4070-A882-279075CD8F0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76E6AC9-9C61-44D4-87C8-76D62102EFE1}">
      <dgm:prSet phldrT="[Text]" phldr="0"/>
      <dgm:spPr/>
      <dgm:t>
        <a:bodyPr/>
        <a:lstStyle/>
        <a:p>
          <a:r>
            <a:rPr lang="en-GB">
              <a:latin typeface="Aptos Display" panose="02110004020202020204"/>
            </a:rPr>
            <a:t>Attacker</a:t>
          </a:r>
          <a:endParaRPr lang="en-GB"/>
        </a:p>
      </dgm:t>
    </dgm:pt>
    <dgm:pt modelId="{8DED3F23-E0AD-4D2E-90F2-7D60BCF8909C}" type="parTrans" cxnId="{61551963-ACB9-4102-B21C-C697B3D42287}">
      <dgm:prSet/>
      <dgm:spPr/>
    </dgm:pt>
    <dgm:pt modelId="{31033C46-77F2-4A56-BCC6-E23880264AE3}" type="sibTrans" cxnId="{61551963-ACB9-4102-B21C-C697B3D42287}">
      <dgm:prSet/>
      <dgm:spPr/>
    </dgm:pt>
    <dgm:pt modelId="{F73E9F16-42CC-4ADC-A648-43876FEB68B4}">
      <dgm:prSet phldrT="[Text]" phldr="0"/>
      <dgm:spPr/>
      <dgm:t>
        <a:bodyPr/>
        <a:lstStyle/>
        <a:p>
          <a:pPr rtl="0"/>
          <a:r>
            <a:rPr lang="en-GB">
              <a:latin typeface="Aptos Display" panose="02110004020202020204"/>
            </a:rPr>
            <a:t>Fake Email</a:t>
          </a:r>
          <a:endParaRPr lang="en-GB"/>
        </a:p>
      </dgm:t>
    </dgm:pt>
    <dgm:pt modelId="{38D0AC00-A3B8-460D-8D39-769001F95BEF}" type="parTrans" cxnId="{9237DF7E-9980-4FC5-800B-CF09377F1D67}">
      <dgm:prSet/>
      <dgm:spPr/>
    </dgm:pt>
    <dgm:pt modelId="{8654682E-1C4E-4731-AABE-C4EA4D7A8361}" type="sibTrans" cxnId="{9237DF7E-9980-4FC5-800B-CF09377F1D67}">
      <dgm:prSet/>
      <dgm:spPr/>
    </dgm:pt>
    <dgm:pt modelId="{4EDA4E49-659D-442E-821C-50EB83824DF3}">
      <dgm:prSet phldrT="[Text]" phldr="0"/>
      <dgm:spPr/>
      <dgm:t>
        <a:bodyPr/>
        <a:lstStyle/>
        <a:p>
          <a:pPr rtl="0"/>
          <a:r>
            <a:rPr lang="en-GB">
              <a:latin typeface="Aptos Display" panose="02110004020202020204"/>
            </a:rPr>
            <a:t>Victim clicks</a:t>
          </a:r>
          <a:endParaRPr lang="en-GB"/>
        </a:p>
      </dgm:t>
    </dgm:pt>
    <dgm:pt modelId="{F08A14AF-D92B-41E7-9445-63FF99C32AED}" type="parTrans" cxnId="{7EDB6E2D-8A87-4959-A758-58EC7CF89A5B}">
      <dgm:prSet/>
      <dgm:spPr/>
    </dgm:pt>
    <dgm:pt modelId="{0329E2D4-4C10-4EC1-8995-1BF2F91680EF}" type="sibTrans" cxnId="{7EDB6E2D-8A87-4959-A758-58EC7CF89A5B}">
      <dgm:prSet/>
      <dgm:spPr/>
    </dgm:pt>
    <dgm:pt modelId="{6CAAFD84-DE57-43AC-82FC-569F6F3DBD78}">
      <dgm:prSet phldrT="[Text]" phldr="0"/>
      <dgm:spPr/>
      <dgm:t>
        <a:bodyPr/>
        <a:lstStyle/>
        <a:p>
          <a:pPr rtl="0"/>
          <a:r>
            <a:rPr lang="en-GB">
              <a:latin typeface="Aptos Display" panose="02110004020202020204"/>
            </a:rPr>
            <a:t>Information stolen</a:t>
          </a:r>
        </a:p>
      </dgm:t>
    </dgm:pt>
    <dgm:pt modelId="{A7C3B047-6F82-42A3-A24D-0DA20EFD05DC}" type="parTrans" cxnId="{04D01186-C82B-4852-9E7E-56566E322BD9}">
      <dgm:prSet/>
      <dgm:spPr/>
    </dgm:pt>
    <dgm:pt modelId="{9606417C-31E4-4BFE-9ABE-544B8E454DB9}" type="sibTrans" cxnId="{04D01186-C82B-4852-9E7E-56566E322BD9}">
      <dgm:prSet/>
      <dgm:spPr/>
    </dgm:pt>
    <dgm:pt modelId="{83A19161-34F3-47CB-9F3A-897043138844}" type="pres">
      <dgm:prSet presAssocID="{F2B985CE-C57F-4070-A882-279075CD8F0D}" presName="Name0" presStyleCnt="0">
        <dgm:presLayoutVars>
          <dgm:dir/>
          <dgm:animLvl val="lvl"/>
          <dgm:resizeHandles val="exact"/>
        </dgm:presLayoutVars>
      </dgm:prSet>
      <dgm:spPr/>
    </dgm:pt>
    <dgm:pt modelId="{CDBDBAD1-F958-4955-AE45-5F34ADD2D042}" type="pres">
      <dgm:prSet presAssocID="{C76E6AC9-9C61-44D4-87C8-76D62102EFE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4D1B37-A6E8-4E1E-B002-B16C6A83E49E}" type="pres">
      <dgm:prSet presAssocID="{31033C46-77F2-4A56-BCC6-E23880264AE3}" presName="parTxOnlySpace" presStyleCnt="0"/>
      <dgm:spPr/>
    </dgm:pt>
    <dgm:pt modelId="{0CD46582-EE9A-4588-8300-D5C30C109290}" type="pres">
      <dgm:prSet presAssocID="{F73E9F16-42CC-4ADC-A648-43876FEB68B4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1227ACF-DEA4-41C9-B000-768E64A38B72}" type="pres">
      <dgm:prSet presAssocID="{8654682E-1C4E-4731-AABE-C4EA4D7A8361}" presName="parTxOnlySpace" presStyleCnt="0"/>
      <dgm:spPr/>
    </dgm:pt>
    <dgm:pt modelId="{38C2061A-C684-43A3-883E-1B44B0140238}" type="pres">
      <dgm:prSet presAssocID="{4EDA4E49-659D-442E-821C-50EB83824DF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686CEF1-3E60-49B8-8DDF-C87082B8C827}" type="pres">
      <dgm:prSet presAssocID="{0329E2D4-4C10-4EC1-8995-1BF2F91680EF}" presName="parTxOnlySpace" presStyleCnt="0"/>
      <dgm:spPr/>
    </dgm:pt>
    <dgm:pt modelId="{FC244BFD-4803-4C08-BBC2-1343E35D7FF8}" type="pres">
      <dgm:prSet presAssocID="{6CAAFD84-DE57-43AC-82FC-569F6F3DBD7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89A50E-3369-494A-994A-866980010E18}" type="presOf" srcId="{F2B985CE-C57F-4070-A882-279075CD8F0D}" destId="{83A19161-34F3-47CB-9F3A-897043138844}" srcOrd="0" destOrd="0" presId="urn:microsoft.com/office/officeart/2005/8/layout/chevron1"/>
    <dgm:cxn modelId="{7EDB6E2D-8A87-4959-A758-58EC7CF89A5B}" srcId="{F2B985CE-C57F-4070-A882-279075CD8F0D}" destId="{4EDA4E49-659D-442E-821C-50EB83824DF3}" srcOrd="2" destOrd="0" parTransId="{F08A14AF-D92B-41E7-9445-63FF99C32AED}" sibTransId="{0329E2D4-4C10-4EC1-8995-1BF2F91680EF}"/>
    <dgm:cxn modelId="{61551963-ACB9-4102-B21C-C697B3D42287}" srcId="{F2B985CE-C57F-4070-A882-279075CD8F0D}" destId="{C76E6AC9-9C61-44D4-87C8-76D62102EFE1}" srcOrd="0" destOrd="0" parTransId="{8DED3F23-E0AD-4D2E-90F2-7D60BCF8909C}" sibTransId="{31033C46-77F2-4A56-BCC6-E23880264AE3}"/>
    <dgm:cxn modelId="{9237DF7E-9980-4FC5-800B-CF09377F1D67}" srcId="{F2B985CE-C57F-4070-A882-279075CD8F0D}" destId="{F73E9F16-42CC-4ADC-A648-43876FEB68B4}" srcOrd="1" destOrd="0" parTransId="{38D0AC00-A3B8-460D-8D39-769001F95BEF}" sibTransId="{8654682E-1C4E-4731-AABE-C4EA4D7A8361}"/>
    <dgm:cxn modelId="{4D5A7A83-1DE4-4B86-88A8-31A81B0ED728}" type="presOf" srcId="{4EDA4E49-659D-442E-821C-50EB83824DF3}" destId="{38C2061A-C684-43A3-883E-1B44B0140238}" srcOrd="0" destOrd="0" presId="urn:microsoft.com/office/officeart/2005/8/layout/chevron1"/>
    <dgm:cxn modelId="{04D01186-C82B-4852-9E7E-56566E322BD9}" srcId="{F2B985CE-C57F-4070-A882-279075CD8F0D}" destId="{6CAAFD84-DE57-43AC-82FC-569F6F3DBD78}" srcOrd="3" destOrd="0" parTransId="{A7C3B047-6F82-42A3-A24D-0DA20EFD05DC}" sibTransId="{9606417C-31E4-4BFE-9ABE-544B8E454DB9}"/>
    <dgm:cxn modelId="{AB96F894-F61F-4D0E-8EAF-2BEE1E485247}" type="presOf" srcId="{6CAAFD84-DE57-43AC-82FC-569F6F3DBD78}" destId="{FC244BFD-4803-4C08-BBC2-1343E35D7FF8}" srcOrd="0" destOrd="0" presId="urn:microsoft.com/office/officeart/2005/8/layout/chevron1"/>
    <dgm:cxn modelId="{F5B243AA-5F76-449B-B2B4-2910A3D85548}" type="presOf" srcId="{F73E9F16-42CC-4ADC-A648-43876FEB68B4}" destId="{0CD46582-EE9A-4588-8300-D5C30C109290}" srcOrd="0" destOrd="0" presId="urn:microsoft.com/office/officeart/2005/8/layout/chevron1"/>
    <dgm:cxn modelId="{E83692B6-49B5-44F6-ACCF-EA47E434561B}" type="presOf" srcId="{C76E6AC9-9C61-44D4-87C8-76D62102EFE1}" destId="{CDBDBAD1-F958-4955-AE45-5F34ADD2D042}" srcOrd="0" destOrd="0" presId="urn:microsoft.com/office/officeart/2005/8/layout/chevron1"/>
    <dgm:cxn modelId="{D52BD9E8-20E3-4B4C-80E8-C7D9358027ED}" type="presParOf" srcId="{83A19161-34F3-47CB-9F3A-897043138844}" destId="{CDBDBAD1-F958-4955-AE45-5F34ADD2D042}" srcOrd="0" destOrd="0" presId="urn:microsoft.com/office/officeart/2005/8/layout/chevron1"/>
    <dgm:cxn modelId="{082124D1-703D-477B-86D7-2916EA407A89}" type="presParOf" srcId="{83A19161-34F3-47CB-9F3A-897043138844}" destId="{0C4D1B37-A6E8-4E1E-B002-B16C6A83E49E}" srcOrd="1" destOrd="0" presId="urn:microsoft.com/office/officeart/2005/8/layout/chevron1"/>
    <dgm:cxn modelId="{0D3C9885-C7B6-47DE-9A59-19BBD9043A65}" type="presParOf" srcId="{83A19161-34F3-47CB-9F3A-897043138844}" destId="{0CD46582-EE9A-4588-8300-D5C30C109290}" srcOrd="2" destOrd="0" presId="urn:microsoft.com/office/officeart/2005/8/layout/chevron1"/>
    <dgm:cxn modelId="{058F8B9D-56D8-4803-B2CF-0BA3EAF43020}" type="presParOf" srcId="{83A19161-34F3-47CB-9F3A-897043138844}" destId="{B1227ACF-DEA4-41C9-B000-768E64A38B72}" srcOrd="3" destOrd="0" presId="urn:microsoft.com/office/officeart/2005/8/layout/chevron1"/>
    <dgm:cxn modelId="{7FF7B316-C40E-4B36-81EF-B612B375CFCE}" type="presParOf" srcId="{83A19161-34F3-47CB-9F3A-897043138844}" destId="{38C2061A-C684-43A3-883E-1B44B0140238}" srcOrd="4" destOrd="0" presId="urn:microsoft.com/office/officeart/2005/8/layout/chevron1"/>
    <dgm:cxn modelId="{E6DBB573-0D51-4641-B261-53B4D947EDDB}" type="presParOf" srcId="{83A19161-34F3-47CB-9F3A-897043138844}" destId="{A686CEF1-3E60-49B8-8DDF-C87082B8C827}" srcOrd="5" destOrd="0" presId="urn:microsoft.com/office/officeart/2005/8/layout/chevron1"/>
    <dgm:cxn modelId="{939DFE5E-5763-4973-B6C5-8670B7BB13AC}" type="presParOf" srcId="{83A19161-34F3-47CB-9F3A-897043138844}" destId="{FC244BFD-4803-4C08-BBC2-1343E35D7FF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DBAD1-F958-4955-AE45-5F34ADD2D042}">
      <dsp:nvSpPr>
        <dsp:cNvPr id="0" name=""/>
        <dsp:cNvSpPr/>
      </dsp:nvSpPr>
      <dsp:spPr>
        <a:xfrm>
          <a:off x="4928" y="4849355"/>
          <a:ext cx="2868921" cy="1147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>
              <a:latin typeface="Aptos Display" panose="02110004020202020204"/>
            </a:rPr>
            <a:t>Attacker</a:t>
          </a:r>
          <a:endParaRPr lang="en-GB" sz="2600" kern="1200"/>
        </a:p>
      </dsp:txBody>
      <dsp:txXfrm>
        <a:off x="578712" y="4849355"/>
        <a:ext cx="1721353" cy="1147568"/>
      </dsp:txXfrm>
    </dsp:sp>
    <dsp:sp modelId="{0CD46582-EE9A-4588-8300-D5C30C109290}">
      <dsp:nvSpPr>
        <dsp:cNvPr id="0" name=""/>
        <dsp:cNvSpPr/>
      </dsp:nvSpPr>
      <dsp:spPr>
        <a:xfrm>
          <a:off x="2586957" y="4849355"/>
          <a:ext cx="2868921" cy="1147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>
              <a:latin typeface="Aptos Display" panose="02110004020202020204"/>
            </a:rPr>
            <a:t>Fake Email</a:t>
          </a:r>
          <a:endParaRPr lang="en-GB" sz="2600" kern="1200"/>
        </a:p>
      </dsp:txBody>
      <dsp:txXfrm>
        <a:off x="3160741" y="4849355"/>
        <a:ext cx="1721353" cy="1147568"/>
      </dsp:txXfrm>
    </dsp:sp>
    <dsp:sp modelId="{38C2061A-C684-43A3-883E-1B44B0140238}">
      <dsp:nvSpPr>
        <dsp:cNvPr id="0" name=""/>
        <dsp:cNvSpPr/>
      </dsp:nvSpPr>
      <dsp:spPr>
        <a:xfrm>
          <a:off x="5168987" y="4849355"/>
          <a:ext cx="2868921" cy="1147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>
              <a:latin typeface="Aptos Display" panose="02110004020202020204"/>
            </a:rPr>
            <a:t>Victim clicks</a:t>
          </a:r>
          <a:endParaRPr lang="en-GB" sz="2600" kern="1200"/>
        </a:p>
      </dsp:txBody>
      <dsp:txXfrm>
        <a:off x="5742771" y="4849355"/>
        <a:ext cx="1721353" cy="1147568"/>
      </dsp:txXfrm>
    </dsp:sp>
    <dsp:sp modelId="{FC244BFD-4803-4C08-BBC2-1343E35D7FF8}">
      <dsp:nvSpPr>
        <dsp:cNvPr id="0" name=""/>
        <dsp:cNvSpPr/>
      </dsp:nvSpPr>
      <dsp:spPr>
        <a:xfrm>
          <a:off x="7751016" y="4849355"/>
          <a:ext cx="2868921" cy="11475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>
              <a:latin typeface="Aptos Display" panose="02110004020202020204"/>
            </a:rPr>
            <a:t>Information stolen</a:t>
          </a:r>
        </a:p>
      </dsp:txBody>
      <dsp:txXfrm>
        <a:off x="8324800" y="4849355"/>
        <a:ext cx="1721353" cy="1147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amazon-security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  <a:latin typeface="Aptos Display"/>
                <a:ea typeface="Calibri"/>
                <a:cs typeface="Aptos Serif"/>
              </a:rPr>
              <a:t>PHISHING AWARENESS</a:t>
            </a:r>
            <a:br>
              <a:rPr lang="en-GB" sz="4800" b="1">
                <a:latin typeface="Aptos Display"/>
                <a:ea typeface="Calibri"/>
                <a:cs typeface="Aptos Serif"/>
              </a:rPr>
            </a:br>
            <a:r>
              <a:rPr lang="en-GB" sz="4800" b="1">
                <a:solidFill>
                  <a:schemeClr val="bg1"/>
                </a:solidFill>
                <a:latin typeface="Aptos Display"/>
                <a:ea typeface="Calibri"/>
                <a:cs typeface="Aptos Serif"/>
              </a:rPr>
              <a:t> MODULE</a:t>
            </a:r>
            <a:br>
              <a:rPr lang="en-GB" sz="4400" b="1">
                <a:solidFill>
                  <a:schemeClr val="bg1"/>
                </a:solidFill>
                <a:latin typeface="Aptos Display"/>
                <a:ea typeface="Calibri"/>
                <a:cs typeface="Aptos Serif"/>
              </a:rPr>
            </a:br>
            <a:endParaRPr lang="en-GB" sz="4400" b="1">
              <a:solidFill>
                <a:schemeClr val="bg1"/>
              </a:solidFill>
              <a:latin typeface="Aptos Display"/>
              <a:ea typeface="Calibri"/>
              <a:cs typeface="Aptos Serif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44530"/>
            <a:ext cx="9144000" cy="2935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Learn how to identify, prevent, and report phishing attacks</a:t>
            </a:r>
          </a:p>
          <a:p>
            <a:endParaRPr lang="en-GB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Prepared by:</a:t>
            </a:r>
          </a:p>
          <a:p>
            <a:r>
              <a:rPr lang="en-GB">
                <a:solidFill>
                  <a:schemeClr val="bg1"/>
                </a:solidFill>
              </a:rPr>
              <a:t>FRIMPONG TRACY KWAKYEWAA KUMI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32D1-0EB2-5F2B-1684-A1D42837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>
                <a:solidFill>
                  <a:schemeClr val="bg1"/>
                </a:solidFill>
              </a:rPr>
              <a:t>Learning Objectives</a:t>
            </a:r>
            <a:br>
              <a:rPr lang="en-GB" sz="3600">
                <a:solidFill>
                  <a:schemeClr val="bg1"/>
                </a:solidFill>
              </a:rPr>
            </a:br>
            <a:r>
              <a:rPr lang="en-GB" sz="2800">
                <a:solidFill>
                  <a:schemeClr val="bg1"/>
                </a:solidFill>
              </a:rPr>
              <a:t>By the end of the module , you will be able to:</a:t>
            </a:r>
          </a:p>
          <a:p>
            <a:endParaRPr lang="en-GB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447DA-1B05-55A8-3EDF-7D791FA6D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8804" y="1811248"/>
            <a:ext cx="5325373" cy="43657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en-GB" sz="2400">
                <a:solidFill>
                  <a:schemeClr val="bg1"/>
                </a:solidFill>
                <a:latin typeface="Aptos Display"/>
              </a:rPr>
              <a:t>Define phishing attacks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GB" sz="2400">
                <a:solidFill>
                  <a:schemeClr val="bg1"/>
                </a:solidFill>
                <a:latin typeface="Aptos Display"/>
              </a:rPr>
              <a:t>Identify common phishing methods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GB" sz="2400">
                <a:solidFill>
                  <a:schemeClr val="bg1"/>
                </a:solidFill>
                <a:latin typeface="Aptos Display"/>
              </a:rPr>
              <a:t>Recognize warning signs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GB" sz="2400">
                <a:solidFill>
                  <a:schemeClr val="bg1"/>
                </a:solidFill>
                <a:latin typeface="Aptos Display"/>
              </a:rPr>
              <a:t>Apply prevention techniques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GB" sz="2400">
                <a:solidFill>
                  <a:schemeClr val="bg1"/>
                </a:solidFill>
                <a:latin typeface="Aptos Display"/>
              </a:rPr>
              <a:t>Report suspicious activities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C262D-D27F-7200-D3D1-6DC82851D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3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E155-9A5E-360F-5D51-B1EA6221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>
                <a:solidFill>
                  <a:schemeClr val="bg1"/>
                </a:solidFill>
              </a:rPr>
              <a:t>What is Phishing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B617E58-ED30-069D-51D9-87FD94B5822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6631" b="6631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721FB-07FE-1F59-371B-11342231F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298" y="2057400"/>
            <a:ext cx="463672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Phishing is a cyberattack in which criminals  impersonate trusted individuals or organizations to trick users into revealing sensitive information.</a:t>
            </a:r>
          </a:p>
          <a:p>
            <a:r>
              <a:rPr lang="en-GB" sz="2400">
                <a:solidFill>
                  <a:schemeClr val="bg1"/>
                </a:solidFill>
              </a:rPr>
              <a:t>Examples:</a:t>
            </a:r>
          </a:p>
          <a:p>
            <a:pPr marL="342900" indent="-342900">
              <a:buChar char="•"/>
            </a:pPr>
            <a:r>
              <a:rPr lang="en-GB" sz="2400">
                <a:solidFill>
                  <a:schemeClr val="bg1"/>
                </a:solidFill>
              </a:rPr>
              <a:t>Password</a:t>
            </a:r>
          </a:p>
          <a:p>
            <a:pPr marL="342900" indent="-342900">
              <a:buChar char="•"/>
            </a:pPr>
            <a:r>
              <a:rPr lang="en-GB" sz="2400">
                <a:solidFill>
                  <a:schemeClr val="bg1"/>
                </a:solidFill>
              </a:rPr>
              <a:t>Bank details</a:t>
            </a:r>
          </a:p>
          <a:p>
            <a:pPr marL="342900" indent="-342900">
              <a:buChar char="•"/>
            </a:pPr>
            <a:r>
              <a:rPr lang="en-GB" sz="2400">
                <a:solidFill>
                  <a:schemeClr val="bg1"/>
                </a:solidFill>
              </a:rPr>
              <a:t>Personal information</a:t>
            </a:r>
          </a:p>
          <a:p>
            <a:endParaRPr lang="en-GB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B3B6E37-38C2-42E7-B2BA-6F009C3E37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254" y="585159"/>
            <a:ext cx="2035833" cy="20214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1F4157A-71B8-0596-3B7B-4B8B429C5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2047" y="4021347"/>
            <a:ext cx="1992701" cy="20358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F08F9BE-B177-A06D-C008-7BE785DD3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9556" y="743309"/>
            <a:ext cx="1949569" cy="1963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763E3F2-33FE-310C-C417-8C23FD085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1592" y="3446253"/>
            <a:ext cx="2467153" cy="24671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F288D8-95D9-D2CD-CAB0-D6DB37819FB9}"/>
              </a:ext>
            </a:extLst>
          </p:cNvPr>
          <p:cNvSpPr/>
          <p:nvPr/>
        </p:nvSpPr>
        <p:spPr>
          <a:xfrm>
            <a:off x="7422" y="3401282"/>
            <a:ext cx="5867725" cy="326467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D12CA3-7659-B927-FB8E-8E1A36A485BA}"/>
              </a:ext>
            </a:extLst>
          </p:cNvPr>
          <p:cNvSpPr/>
          <p:nvPr/>
        </p:nvSpPr>
        <p:spPr>
          <a:xfrm>
            <a:off x="13834" y="-7163"/>
            <a:ext cx="5875693" cy="320716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C55EEA-BEDF-BE9C-29D4-BE3B81130B3E}"/>
              </a:ext>
            </a:extLst>
          </p:cNvPr>
          <p:cNvSpPr/>
          <p:nvPr/>
        </p:nvSpPr>
        <p:spPr>
          <a:xfrm>
            <a:off x="6289240" y="43184"/>
            <a:ext cx="5902994" cy="313742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A2649E-ED53-ACA2-6897-BB400F0E43FD}"/>
              </a:ext>
            </a:extLst>
          </p:cNvPr>
          <p:cNvSpPr/>
          <p:nvPr/>
        </p:nvSpPr>
        <p:spPr>
          <a:xfrm>
            <a:off x="6225372" y="3439408"/>
            <a:ext cx="5949837" cy="32359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CD1E0-5824-186F-0D0E-026C1E1EC355}"/>
              </a:ext>
            </a:extLst>
          </p:cNvPr>
          <p:cNvSpPr txBox="1"/>
          <p:nvPr/>
        </p:nvSpPr>
        <p:spPr>
          <a:xfrm>
            <a:off x="973666" y="211666"/>
            <a:ext cx="169333" cy="211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9D0475-0D60-3E60-79F3-E3F07E07CA13}"/>
              </a:ext>
            </a:extLst>
          </p:cNvPr>
          <p:cNvSpPr txBox="1"/>
          <p:nvPr/>
        </p:nvSpPr>
        <p:spPr>
          <a:xfrm>
            <a:off x="352244" y="1135013"/>
            <a:ext cx="269256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Fraudulent emails pretending to come from trusted organizations.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7CED76-9AA8-D16E-11D2-D154113A262A}"/>
              </a:ext>
            </a:extLst>
          </p:cNvPr>
          <p:cNvSpPr txBox="1"/>
          <p:nvPr/>
        </p:nvSpPr>
        <p:spPr>
          <a:xfrm>
            <a:off x="365825" y="323492"/>
            <a:ext cx="32333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Email Phishing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75D2E-9C51-CD89-B073-8436BA0C8B7B}"/>
              </a:ext>
            </a:extLst>
          </p:cNvPr>
          <p:cNvSpPr txBox="1"/>
          <p:nvPr/>
        </p:nvSpPr>
        <p:spPr>
          <a:xfrm>
            <a:off x="6858000" y="338666"/>
            <a:ext cx="3683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Spear Phishing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4802A-9811-ED53-9733-27FDDE5D34A9}"/>
              </a:ext>
            </a:extLst>
          </p:cNvPr>
          <p:cNvSpPr txBox="1"/>
          <p:nvPr/>
        </p:nvSpPr>
        <p:spPr>
          <a:xfrm>
            <a:off x="6773333" y="1185332"/>
            <a:ext cx="258233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Personalized attacks targeting specific individuals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589B4D-5E7D-545F-AD3F-798203E9F89D}"/>
              </a:ext>
            </a:extLst>
          </p:cNvPr>
          <p:cNvSpPr txBox="1"/>
          <p:nvPr/>
        </p:nvSpPr>
        <p:spPr>
          <a:xfrm>
            <a:off x="677333" y="3535233"/>
            <a:ext cx="31190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>
                <a:solidFill>
                  <a:schemeClr val="bg1"/>
                </a:solidFill>
              </a:rPr>
              <a:t>Smishing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7ABDBF-92A6-29D7-395D-AB9C1643A2DA}"/>
              </a:ext>
            </a:extLst>
          </p:cNvPr>
          <p:cNvSpPr txBox="1"/>
          <p:nvPr/>
        </p:nvSpPr>
        <p:spPr>
          <a:xfrm>
            <a:off x="296333" y="4148667"/>
            <a:ext cx="262466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Fake SMS message requesting urgent 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7B6824-15AD-1F74-8799-C12BB679BB81}"/>
              </a:ext>
            </a:extLst>
          </p:cNvPr>
          <p:cNvSpPr txBox="1"/>
          <p:nvPr/>
        </p:nvSpPr>
        <p:spPr>
          <a:xfrm>
            <a:off x="6942667" y="3725333"/>
            <a:ext cx="313266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>
                <a:solidFill>
                  <a:schemeClr val="bg1"/>
                </a:solidFill>
              </a:rPr>
              <a:t>Vishing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6A0AF4-0056-1104-9347-80BDAE80718B}"/>
              </a:ext>
            </a:extLst>
          </p:cNvPr>
          <p:cNvSpPr txBox="1"/>
          <p:nvPr/>
        </p:nvSpPr>
        <p:spPr>
          <a:xfrm>
            <a:off x="6942667" y="4487333"/>
            <a:ext cx="237066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Phone calls pretending to be legitimate organization</a:t>
            </a:r>
          </a:p>
        </p:txBody>
      </p:sp>
    </p:spTree>
    <p:extLst>
      <p:ext uri="{BB962C8B-B14F-4D97-AF65-F5344CB8AC3E}">
        <p14:creationId xmlns:p14="http://schemas.microsoft.com/office/powerpoint/2010/main" val="355845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C28F7C9-5CA9-C3DE-39B6-D007CEEBBF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4750292"/>
              </p:ext>
            </p:extLst>
          </p:nvPr>
        </p:nvGraphicFramePr>
        <p:xfrm>
          <a:off x="776378" y="-3115575"/>
          <a:ext cx="10624867" cy="10846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6" name="TextBox 325">
            <a:extLst>
              <a:ext uri="{FF2B5EF4-FFF2-40B4-BE49-F238E27FC236}">
                <a16:creationId xmlns:a16="http://schemas.microsoft.com/office/drawing/2014/main" id="{AD02AC50-8FF1-13A9-D578-8AC0A769BCA0}"/>
              </a:ext>
            </a:extLst>
          </p:cNvPr>
          <p:cNvSpPr txBox="1"/>
          <p:nvPr/>
        </p:nvSpPr>
        <p:spPr>
          <a:xfrm>
            <a:off x="1015999" y="3429000"/>
            <a:ext cx="994833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The attacker creates a convincing fake message. Once the victim clicks a malicious link or attachment, sensitive information may be stolen or malware installed.</a:t>
            </a:r>
          </a:p>
        </p:txBody>
      </p:sp>
    </p:spTree>
    <p:extLst>
      <p:ext uri="{BB962C8B-B14F-4D97-AF65-F5344CB8AC3E}">
        <p14:creationId xmlns:p14="http://schemas.microsoft.com/office/powerpoint/2010/main" val="82452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91E4-1398-6923-056F-D46B54AF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Warning Signs of Phishing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74B387-3007-B88D-7AFB-7EB4CAEDDC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234" y="1545642"/>
            <a:ext cx="511834" cy="569343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F435189-C970-8655-F079-55375D68FC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14691" y="1720064"/>
            <a:ext cx="5239109" cy="328287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BDDF220E-D5D2-D2D0-78A0-E786981E6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482" y="4961701"/>
            <a:ext cx="511834" cy="569343"/>
          </a:xfrm>
          <a:prstGeom prst="rect">
            <a:avLst/>
          </a:prstGeom>
        </p:spPr>
      </p:pic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DD62244A-6120-894D-25AA-0575D2CAA6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481" y="5694945"/>
            <a:ext cx="511834" cy="569343"/>
          </a:xfrm>
          <a:prstGeom prst="rect">
            <a:avLst/>
          </a:prstGeo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D572C991-13AF-6913-183A-9A2765C05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104" y="4084681"/>
            <a:ext cx="511834" cy="569343"/>
          </a:xfrm>
          <a:prstGeom prst="rect">
            <a:avLst/>
          </a:prstGeom>
        </p:spPr>
      </p:pic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0AA4D825-B981-916E-7C9D-8FDE26582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235" y="3236417"/>
            <a:ext cx="511834" cy="569343"/>
          </a:xfrm>
          <a:prstGeom prst="rect">
            <a:avLst/>
          </a:prstGeom>
        </p:spPr>
      </p:pic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8C73124F-9DF8-74D6-E617-3007C5A6A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102" y="2330642"/>
            <a:ext cx="511834" cy="5693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9D2DF82-6669-12B2-F14A-4E09EDF18B4E}"/>
              </a:ext>
            </a:extLst>
          </p:cNvPr>
          <p:cNvSpPr txBox="1"/>
          <p:nvPr/>
        </p:nvSpPr>
        <p:spPr>
          <a:xfrm>
            <a:off x="833225" y="1681207"/>
            <a:ext cx="39731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Urgent language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76E30-953D-D9D7-E006-C32B0B13BCCB}"/>
              </a:ext>
            </a:extLst>
          </p:cNvPr>
          <p:cNvSpPr txBox="1"/>
          <p:nvPr/>
        </p:nvSpPr>
        <p:spPr>
          <a:xfrm>
            <a:off x="818874" y="2500210"/>
            <a:ext cx="25147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Unknown sender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A6EA7C-C68E-9AE1-16E1-50D5A27D56E8}"/>
              </a:ext>
            </a:extLst>
          </p:cNvPr>
          <p:cNvSpPr txBox="1"/>
          <p:nvPr/>
        </p:nvSpPr>
        <p:spPr>
          <a:xfrm>
            <a:off x="847578" y="3412650"/>
            <a:ext cx="37945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Poor spelling and grammar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68426-DA32-CA4D-134D-28B1369E6FA1}"/>
              </a:ext>
            </a:extLst>
          </p:cNvPr>
          <p:cNvSpPr txBox="1"/>
          <p:nvPr/>
        </p:nvSpPr>
        <p:spPr>
          <a:xfrm>
            <a:off x="847603" y="4260406"/>
            <a:ext cx="28164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Suspicious links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996D2-7D3C-CE10-ABF5-F111DDA6D5C7}"/>
              </a:ext>
            </a:extLst>
          </p:cNvPr>
          <p:cNvSpPr txBox="1"/>
          <p:nvPr/>
        </p:nvSpPr>
        <p:spPr>
          <a:xfrm>
            <a:off x="840351" y="5129690"/>
            <a:ext cx="47635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Unexpected attachments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835305-6508-F45B-C933-F57EB2CF07BD}"/>
              </a:ext>
            </a:extLst>
          </p:cNvPr>
          <p:cNvSpPr txBox="1"/>
          <p:nvPr/>
        </p:nvSpPr>
        <p:spPr>
          <a:xfrm>
            <a:off x="840402" y="5869729"/>
            <a:ext cx="338404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Request for password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56081-263F-9A6A-3E03-233F4F2DA179}"/>
              </a:ext>
            </a:extLst>
          </p:cNvPr>
          <p:cNvSpPr txBox="1"/>
          <p:nvPr/>
        </p:nvSpPr>
        <p:spPr>
          <a:xfrm>
            <a:off x="6272016" y="5797843"/>
            <a:ext cx="508658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>
                <a:solidFill>
                  <a:schemeClr val="bg1"/>
                </a:solidFill>
              </a:rPr>
              <a:t>Remember:</a:t>
            </a:r>
          </a:p>
          <a:p>
            <a:r>
              <a:rPr lang="en-GB" sz="2000">
                <a:solidFill>
                  <a:schemeClr val="bg1"/>
                </a:solidFill>
              </a:rPr>
              <a:t>If something feels suspicious, verify it before clicking.</a:t>
            </a:r>
          </a:p>
        </p:txBody>
      </p:sp>
    </p:spTree>
    <p:extLst>
      <p:ext uri="{BB962C8B-B14F-4D97-AF65-F5344CB8AC3E}">
        <p14:creationId xmlns:p14="http://schemas.microsoft.com/office/powerpoint/2010/main" val="288092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F11C-D827-8CC7-E4C7-8FCB3D35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Realistic Phishing Email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1846-999E-DB6D-701A-22B54ACFA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89" y="1796871"/>
            <a:ext cx="6173636" cy="43800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From: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Support@amazon-security.com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Subject: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Your account will be suspended.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Dear customer,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Your account has unusual activity.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Verify immediately by clicking below.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Verify account 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2F397-2E07-20A4-E699-7F414C0AC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6049" y="1811248"/>
            <a:ext cx="5267864" cy="43657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         </a:t>
            </a:r>
            <a:r>
              <a:rPr lang="en-GB">
                <a:solidFill>
                  <a:schemeClr val="bg1"/>
                </a:solidFill>
              </a:rPr>
              <a:t>Fake sender</a:t>
            </a:r>
          </a:p>
          <a:p>
            <a:pPr marL="0" indent="0">
              <a:buNone/>
            </a:pPr>
            <a:r>
              <a:rPr lang="en-GB"/>
              <a:t>            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6DC8739-F9D8-5844-6D01-6FE3D79EF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611" y="1706593"/>
            <a:ext cx="540589" cy="58372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9588C81-387C-B894-EEC6-BFBA323AE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611" y="2856781"/>
            <a:ext cx="540589" cy="58372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650753E-FA48-A0E2-97C4-698B325FDA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610" y="4912743"/>
            <a:ext cx="540589" cy="58372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AD39061-A51A-DFCF-03E3-DA352120B5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610" y="5890402"/>
            <a:ext cx="540589" cy="58372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F713859-F5A0-AFBF-7012-F17A69506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609" y="3992590"/>
            <a:ext cx="540589" cy="5837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A689CB-5442-12CC-6369-90DED0757781}"/>
              </a:ext>
            </a:extLst>
          </p:cNvPr>
          <p:cNvSpPr txBox="1"/>
          <p:nvPr/>
        </p:nvSpPr>
        <p:spPr>
          <a:xfrm>
            <a:off x="7648754" y="2920200"/>
            <a:ext cx="40448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Urgent language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D456B-0B16-F785-AFD4-1053F6BB0078}"/>
              </a:ext>
            </a:extLst>
          </p:cNvPr>
          <p:cNvSpPr txBox="1"/>
          <p:nvPr/>
        </p:nvSpPr>
        <p:spPr>
          <a:xfrm>
            <a:off x="7619999" y="4092755"/>
            <a:ext cx="42572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Suspicious link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1E22D-1DB1-6160-8C6A-EA960F3C4B9A}"/>
              </a:ext>
            </a:extLst>
          </p:cNvPr>
          <p:cNvSpPr txBox="1"/>
          <p:nvPr/>
        </p:nvSpPr>
        <p:spPr>
          <a:xfrm>
            <a:off x="7634377" y="4994535"/>
            <a:ext cx="40552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Generic greeting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F5B13E-9B94-D2A4-085B-C66B1C598082}"/>
              </a:ext>
            </a:extLst>
          </p:cNvPr>
          <p:cNvSpPr txBox="1"/>
          <p:nvPr/>
        </p:nvSpPr>
        <p:spPr>
          <a:xfrm>
            <a:off x="7659938" y="5910693"/>
            <a:ext cx="437870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Requests personal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41789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8B2F391-060F-3D40-4D35-AA1F64F062BF}"/>
              </a:ext>
            </a:extLst>
          </p:cNvPr>
          <p:cNvSpPr/>
          <p:nvPr/>
        </p:nvSpPr>
        <p:spPr>
          <a:xfrm>
            <a:off x="3670219" y="954496"/>
            <a:ext cx="4850762" cy="49466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6A9695-A8E8-80CF-A403-443F38857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EF5E4D3-C3FF-F3F9-AAE3-B847A2F74021}"/>
              </a:ext>
            </a:extLst>
          </p:cNvPr>
          <p:cNvSpPr/>
          <p:nvPr/>
        </p:nvSpPr>
        <p:spPr>
          <a:xfrm>
            <a:off x="9866062" y="626213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88B126-6FC2-103E-F298-BAF8E6401E72}"/>
              </a:ext>
            </a:extLst>
          </p:cNvPr>
          <p:cNvSpPr/>
          <p:nvPr/>
        </p:nvSpPr>
        <p:spPr>
          <a:xfrm>
            <a:off x="290741" y="309911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25948F-AC08-4F25-B202-804C09A213F5}"/>
              </a:ext>
            </a:extLst>
          </p:cNvPr>
          <p:cNvSpPr/>
          <p:nvPr/>
        </p:nvSpPr>
        <p:spPr>
          <a:xfrm>
            <a:off x="290740" y="2710929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D7A92A-2703-D1D7-1B75-131D68536DA2}"/>
              </a:ext>
            </a:extLst>
          </p:cNvPr>
          <p:cNvSpPr/>
          <p:nvPr/>
        </p:nvSpPr>
        <p:spPr>
          <a:xfrm>
            <a:off x="9866060" y="2710928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5A4DE1-0CD8-46B8-A6CB-D117A3CCD87F}"/>
              </a:ext>
            </a:extLst>
          </p:cNvPr>
          <p:cNvSpPr/>
          <p:nvPr/>
        </p:nvSpPr>
        <p:spPr>
          <a:xfrm>
            <a:off x="290739" y="4925041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8327D1-6164-6D15-F9F1-F2438D70835D}"/>
              </a:ext>
            </a:extLst>
          </p:cNvPr>
          <p:cNvSpPr/>
          <p:nvPr/>
        </p:nvSpPr>
        <p:spPr>
          <a:xfrm>
            <a:off x="9866059" y="4925040"/>
            <a:ext cx="2032000" cy="19473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3285F8-BB65-6904-78FC-EAF5D86F709F}"/>
              </a:ext>
            </a:extLst>
          </p:cNvPr>
          <p:cNvCxnSpPr/>
          <p:nvPr/>
        </p:nvCxnSpPr>
        <p:spPr>
          <a:xfrm>
            <a:off x="2385841" y="1099070"/>
            <a:ext cx="1604514" cy="87126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381328-FA27-809A-1382-00BA777E8C21}"/>
              </a:ext>
            </a:extLst>
          </p:cNvPr>
          <p:cNvCxnSpPr>
            <a:cxnSpLocks/>
          </p:cNvCxnSpPr>
          <p:nvPr/>
        </p:nvCxnSpPr>
        <p:spPr>
          <a:xfrm flipV="1">
            <a:off x="2299576" y="3508714"/>
            <a:ext cx="1374477" cy="5751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5C20E0-2A44-2D58-685B-71FE02B542E7}"/>
              </a:ext>
            </a:extLst>
          </p:cNvPr>
          <p:cNvCxnSpPr>
            <a:cxnSpLocks/>
          </p:cNvCxnSpPr>
          <p:nvPr/>
        </p:nvCxnSpPr>
        <p:spPr>
          <a:xfrm flipV="1">
            <a:off x="2285198" y="5133355"/>
            <a:ext cx="1992702" cy="68148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047CF2-FA97-B0CF-7CCC-F0B789DCFB4C}"/>
              </a:ext>
            </a:extLst>
          </p:cNvPr>
          <p:cNvCxnSpPr>
            <a:cxnSpLocks/>
          </p:cNvCxnSpPr>
          <p:nvPr/>
        </p:nvCxnSpPr>
        <p:spPr>
          <a:xfrm>
            <a:off x="7834859" y="5153484"/>
            <a:ext cx="2064589" cy="1173191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FD87-7880-4485-1FF2-BF309299D4DA}"/>
              </a:ext>
            </a:extLst>
          </p:cNvPr>
          <p:cNvCxnSpPr>
            <a:cxnSpLocks/>
          </p:cNvCxnSpPr>
          <p:nvPr/>
        </p:nvCxnSpPr>
        <p:spPr>
          <a:xfrm>
            <a:off x="8568104" y="3629483"/>
            <a:ext cx="1316967" cy="2300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B7CA9F-A76A-534F-C52B-6D29B0CE6690}"/>
              </a:ext>
            </a:extLst>
          </p:cNvPr>
          <p:cNvCxnSpPr>
            <a:cxnSpLocks/>
          </p:cNvCxnSpPr>
          <p:nvPr/>
        </p:nvCxnSpPr>
        <p:spPr>
          <a:xfrm flipV="1">
            <a:off x="8309310" y="1898448"/>
            <a:ext cx="1547005" cy="46582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442B2D14-95EC-9CDC-3089-5102442F0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40" y="829574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C8A4B0E-6804-AAF5-A079-7D12FDDBA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0837" y="5444706"/>
            <a:ext cx="914400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8B9D25B-6C46-A967-D8AC-D2E489DD1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0837" y="3201837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A5B8BF6-4298-69ED-D058-E4D8FC2B4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0838" y="1145875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D13E6B-B8E5-69C0-E053-D9303CBD61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139" y="5444706"/>
            <a:ext cx="914400" cy="9144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A7049DD-96A8-3A80-E964-3DD7C2493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140" y="328810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D21B0F-0ED9-B654-3491-F792FF5A652C}"/>
              </a:ext>
            </a:extLst>
          </p:cNvPr>
          <p:cNvSpPr txBox="1"/>
          <p:nvPr/>
        </p:nvSpPr>
        <p:spPr>
          <a:xfrm>
            <a:off x="2201333" y="296333"/>
            <a:ext cx="24553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Strong password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18012-3E98-E1AF-E5E3-B15F0938A6E9}"/>
              </a:ext>
            </a:extLst>
          </p:cNvPr>
          <p:cNvSpPr txBox="1"/>
          <p:nvPr/>
        </p:nvSpPr>
        <p:spPr>
          <a:xfrm>
            <a:off x="1833912" y="2165390"/>
            <a:ext cx="18211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Two factor authentication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AA143D-0C1C-4648-80D6-DF863693FED2}"/>
              </a:ext>
            </a:extLst>
          </p:cNvPr>
          <p:cNvSpPr txBox="1"/>
          <p:nvPr/>
        </p:nvSpPr>
        <p:spPr>
          <a:xfrm>
            <a:off x="2751666" y="6011333"/>
            <a:ext cx="2413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Verify link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3F13E3-6019-2FFF-65A1-940BBCD164A5}"/>
              </a:ext>
            </a:extLst>
          </p:cNvPr>
          <p:cNvSpPr txBox="1"/>
          <p:nvPr/>
        </p:nvSpPr>
        <p:spPr>
          <a:xfrm>
            <a:off x="8268578" y="749220"/>
            <a:ext cx="242897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Check sender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284FA-C02B-6D4F-BC39-14CE8E6C0341}"/>
              </a:ext>
            </a:extLst>
          </p:cNvPr>
          <p:cNvSpPr txBox="1"/>
          <p:nvPr/>
        </p:nvSpPr>
        <p:spPr>
          <a:xfrm>
            <a:off x="8533762" y="4078377"/>
            <a:ext cx="142894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Update software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1C5CE-AD4C-6609-1F9C-578DF0C073A7}"/>
              </a:ext>
            </a:extLst>
          </p:cNvPr>
          <p:cNvSpPr txBox="1"/>
          <p:nvPr/>
        </p:nvSpPr>
        <p:spPr>
          <a:xfrm>
            <a:off x="6588026" y="6067246"/>
            <a:ext cx="286668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Report suspicious Emails</a:t>
            </a:r>
          </a:p>
        </p:txBody>
      </p:sp>
    </p:spTree>
    <p:extLst>
      <p:ext uri="{BB962C8B-B14F-4D97-AF65-F5344CB8AC3E}">
        <p14:creationId xmlns:p14="http://schemas.microsoft.com/office/powerpoint/2010/main" val="209042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65A8A10-E02C-07A8-801F-E71B07E69EF8}"/>
              </a:ext>
            </a:extLst>
          </p:cNvPr>
          <p:cNvSpPr/>
          <p:nvPr/>
        </p:nvSpPr>
        <p:spPr>
          <a:xfrm>
            <a:off x="393576" y="253911"/>
            <a:ext cx="916199" cy="9185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E4BA46-BDAB-207D-1E29-FD773594DA51}"/>
              </a:ext>
            </a:extLst>
          </p:cNvPr>
          <p:cNvSpPr/>
          <p:nvPr/>
        </p:nvSpPr>
        <p:spPr>
          <a:xfrm>
            <a:off x="379198" y="5688551"/>
            <a:ext cx="916199" cy="9185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0C706-AD76-0340-1414-2F9CA7DA8F05}"/>
              </a:ext>
            </a:extLst>
          </p:cNvPr>
          <p:cNvSpPr txBox="1"/>
          <p:nvPr/>
        </p:nvSpPr>
        <p:spPr>
          <a:xfrm>
            <a:off x="708341" y="459305"/>
            <a:ext cx="4082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B66857-FB69-D615-379F-9CB184831FE1}"/>
              </a:ext>
            </a:extLst>
          </p:cNvPr>
          <p:cNvSpPr/>
          <p:nvPr/>
        </p:nvSpPr>
        <p:spPr>
          <a:xfrm>
            <a:off x="364819" y="2841834"/>
            <a:ext cx="916199" cy="9185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C14B21-0B2A-B659-C6C5-77D5EFA31FD2}"/>
              </a:ext>
            </a:extLst>
          </p:cNvPr>
          <p:cNvSpPr/>
          <p:nvPr/>
        </p:nvSpPr>
        <p:spPr>
          <a:xfrm>
            <a:off x="379197" y="1648512"/>
            <a:ext cx="916199" cy="9185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52CD1D7-7456-3BD2-3C6E-870443172894}"/>
              </a:ext>
            </a:extLst>
          </p:cNvPr>
          <p:cNvSpPr/>
          <p:nvPr/>
        </p:nvSpPr>
        <p:spPr>
          <a:xfrm>
            <a:off x="379196" y="4207681"/>
            <a:ext cx="916199" cy="9185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523BC-C0D3-388B-07DF-8124A7AF7449}"/>
              </a:ext>
            </a:extLst>
          </p:cNvPr>
          <p:cNvSpPr txBox="1"/>
          <p:nvPr/>
        </p:nvSpPr>
        <p:spPr>
          <a:xfrm>
            <a:off x="561230" y="1915012"/>
            <a:ext cx="449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EE439-3F2E-698A-AEA5-4E3357036C48}"/>
              </a:ext>
            </a:extLst>
          </p:cNvPr>
          <p:cNvSpPr txBox="1"/>
          <p:nvPr/>
        </p:nvSpPr>
        <p:spPr>
          <a:xfrm>
            <a:off x="622846" y="3177139"/>
            <a:ext cx="3265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1AE75E-1404-8702-5737-4A38F3F287CE}"/>
              </a:ext>
            </a:extLst>
          </p:cNvPr>
          <p:cNvSpPr txBox="1"/>
          <p:nvPr/>
        </p:nvSpPr>
        <p:spPr>
          <a:xfrm>
            <a:off x="572782" y="4572769"/>
            <a:ext cx="4082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07BE01-3F5F-FC3E-55DD-2A2BA0968DDF}"/>
              </a:ext>
            </a:extLst>
          </p:cNvPr>
          <p:cNvSpPr txBox="1"/>
          <p:nvPr/>
        </p:nvSpPr>
        <p:spPr>
          <a:xfrm>
            <a:off x="618482" y="5872637"/>
            <a:ext cx="449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46C055-0E3F-1422-303E-921D8C2FD44E}"/>
              </a:ext>
            </a:extLst>
          </p:cNvPr>
          <p:cNvSpPr txBox="1"/>
          <p:nvPr/>
        </p:nvSpPr>
        <p:spPr>
          <a:xfrm>
            <a:off x="6009735" y="542745"/>
            <a:ext cx="5021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Do not click links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BFC108-D866-C563-630A-6D310388C240}"/>
              </a:ext>
            </a:extLst>
          </p:cNvPr>
          <p:cNvSpPr txBox="1"/>
          <p:nvPr/>
        </p:nvSpPr>
        <p:spPr>
          <a:xfrm>
            <a:off x="6009734" y="1879839"/>
            <a:ext cx="5021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Report Email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32F271-32F9-0997-9AA1-AB6124918CE9}"/>
              </a:ext>
            </a:extLst>
          </p:cNvPr>
          <p:cNvSpPr txBox="1"/>
          <p:nvPr/>
        </p:nvSpPr>
        <p:spPr>
          <a:xfrm>
            <a:off x="6009733" y="6121158"/>
            <a:ext cx="74651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Run an antivirus scan if you clicked anything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59FC2D-5471-3AD8-EF90-B5775A7A91AC}"/>
              </a:ext>
            </a:extLst>
          </p:cNvPr>
          <p:cNvSpPr txBox="1"/>
          <p:nvPr/>
        </p:nvSpPr>
        <p:spPr>
          <a:xfrm>
            <a:off x="6124752" y="3202555"/>
            <a:ext cx="5021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Delete Email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7E5D37-4BF2-F8EE-814F-26793E451C39}"/>
              </a:ext>
            </a:extLst>
          </p:cNvPr>
          <p:cNvSpPr txBox="1"/>
          <p:nvPr/>
        </p:nvSpPr>
        <p:spPr>
          <a:xfrm>
            <a:off x="6009732" y="4568403"/>
            <a:ext cx="50210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Change your password if necessary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A967CF-A0DF-6515-B105-0D407D418670}"/>
              </a:ext>
            </a:extLst>
          </p:cNvPr>
          <p:cNvCxnSpPr/>
          <p:nvPr/>
        </p:nvCxnSpPr>
        <p:spPr>
          <a:xfrm flipV="1">
            <a:off x="1264958" y="699563"/>
            <a:ext cx="4862769" cy="98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786871-0A6D-65C9-58B8-82FE49BDFBAD}"/>
              </a:ext>
            </a:extLst>
          </p:cNvPr>
          <p:cNvCxnSpPr>
            <a:cxnSpLocks/>
          </p:cNvCxnSpPr>
          <p:nvPr/>
        </p:nvCxnSpPr>
        <p:spPr>
          <a:xfrm flipV="1">
            <a:off x="1308089" y="2094166"/>
            <a:ext cx="4862769" cy="98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1FAEFA-C13C-786D-0F6B-59C324FECB1C}"/>
              </a:ext>
            </a:extLst>
          </p:cNvPr>
          <p:cNvCxnSpPr>
            <a:cxnSpLocks/>
          </p:cNvCxnSpPr>
          <p:nvPr/>
        </p:nvCxnSpPr>
        <p:spPr>
          <a:xfrm flipV="1">
            <a:off x="1308088" y="3416882"/>
            <a:ext cx="4862769" cy="98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E817CF-F1B6-A2C7-9A29-129E1D7CD373}"/>
              </a:ext>
            </a:extLst>
          </p:cNvPr>
          <p:cNvCxnSpPr>
            <a:cxnSpLocks/>
          </p:cNvCxnSpPr>
          <p:nvPr/>
        </p:nvCxnSpPr>
        <p:spPr>
          <a:xfrm flipV="1">
            <a:off x="1308087" y="4797108"/>
            <a:ext cx="4862769" cy="98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D00B1AD-E431-EC53-7A79-720BAC82A2B0}"/>
              </a:ext>
            </a:extLst>
          </p:cNvPr>
          <p:cNvCxnSpPr>
            <a:cxnSpLocks/>
          </p:cNvCxnSpPr>
          <p:nvPr/>
        </p:nvCxnSpPr>
        <p:spPr>
          <a:xfrm flipV="1">
            <a:off x="1308086" y="6349862"/>
            <a:ext cx="4862769" cy="988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52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86E-D054-C290-926D-1EEF6A8F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Knowledge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DB7D-8289-59E1-6E83-0C11C2558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Question :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Which of the following is a sign of phishing?</a:t>
            </a:r>
          </a:p>
          <a:p>
            <a:pPr marL="514350" indent="-514350">
              <a:buAutoNum type="alphaUcPeriod"/>
            </a:pPr>
            <a:r>
              <a:rPr lang="en-GB">
                <a:solidFill>
                  <a:schemeClr val="bg1"/>
                </a:solidFill>
              </a:rPr>
              <a:t>Email from your lecturer using your university address</a:t>
            </a:r>
          </a:p>
          <a:p>
            <a:pPr marL="514350" indent="-514350">
              <a:buAutoNum type="alphaUcPeriod"/>
            </a:pPr>
            <a:r>
              <a:rPr lang="en-GB">
                <a:solidFill>
                  <a:schemeClr val="bg1"/>
                </a:solidFill>
              </a:rPr>
              <a:t>Email asking you to verify your password immediately </a:t>
            </a:r>
          </a:p>
          <a:p>
            <a:pPr marL="514350" indent="-514350">
              <a:buAutoNum type="alphaUcPeriod"/>
            </a:pPr>
            <a:r>
              <a:rPr lang="en-GB">
                <a:solidFill>
                  <a:schemeClr val="bg1"/>
                </a:solidFill>
              </a:rPr>
              <a:t>Class timetable notification </a:t>
            </a:r>
          </a:p>
          <a:p>
            <a:pPr marL="514350" indent="-514350">
              <a:buAutoNum type="alphaUcPeriod"/>
            </a:pPr>
            <a:r>
              <a:rPr lang="en-GB">
                <a:solidFill>
                  <a:schemeClr val="bg1"/>
                </a:solidFill>
              </a:rPr>
              <a:t>Library reminder</a:t>
            </a:r>
          </a:p>
          <a:p>
            <a:pPr marL="0" indent="0">
              <a:buNone/>
            </a:pPr>
            <a:endParaRPr 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Correct answer:</a:t>
            </a: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B</a:t>
            </a:r>
          </a:p>
          <a:p>
            <a:pPr marL="0" indent="0">
              <a:buNone/>
            </a:pP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52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DC09-FDBD-8094-E79D-1BEBAB12D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1FF8F-4199-B45F-5F46-183BE066E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GB">
                <a:solidFill>
                  <a:schemeClr val="bg1"/>
                </a:solidFill>
              </a:rPr>
              <a:t>Never trust unexpected emails.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GB">
                <a:solidFill>
                  <a:schemeClr val="bg1"/>
                </a:solidFill>
              </a:rPr>
              <a:t>Verify before clicking.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GB">
                <a:solidFill>
                  <a:schemeClr val="bg1"/>
                </a:solidFill>
              </a:rPr>
              <a:t>Enable Two-Factor Authentication.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GB">
                <a:solidFill>
                  <a:schemeClr val="bg1"/>
                </a:solidFill>
              </a:rPr>
              <a:t>Use strong password.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GB">
                <a:solidFill>
                  <a:schemeClr val="bg1"/>
                </a:solidFill>
              </a:rPr>
              <a:t>Report suspicious messages immediately.</a:t>
            </a:r>
          </a:p>
          <a:p>
            <a:pPr marL="0" indent="0">
              <a:buNone/>
            </a:pPr>
            <a:endParaRPr 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Cybersecurity starts with you.</a:t>
            </a:r>
          </a:p>
        </p:txBody>
      </p:sp>
    </p:spTree>
    <p:extLst>
      <p:ext uri="{BB962C8B-B14F-4D97-AF65-F5344CB8AC3E}">
        <p14:creationId xmlns:p14="http://schemas.microsoft.com/office/powerpoint/2010/main" val="716482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5B4F-64AB-C5D0-8FB2-2825EE66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9C382A2-89C8-D18B-1848-E2E0F27024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0520" b="10520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BE821-6523-6467-49F5-A0F66FB74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Stay Alert.</a:t>
            </a:r>
          </a:p>
          <a:p>
            <a:r>
              <a:rPr lang="en-GB" sz="2400">
                <a:solidFill>
                  <a:schemeClr val="bg1"/>
                </a:solidFill>
              </a:rPr>
              <a:t>Stay Secure.</a:t>
            </a:r>
          </a:p>
          <a:p>
            <a:r>
              <a:rPr lang="en-GB" sz="2400">
                <a:solidFill>
                  <a:schemeClr val="bg1"/>
                </a:solidFill>
              </a:rPr>
              <a:t>Think Before You Click.</a:t>
            </a:r>
          </a:p>
          <a:p>
            <a:endParaRPr lang="en-GB" sz="2400">
              <a:solidFill>
                <a:schemeClr val="bg1"/>
              </a:solidFill>
            </a:endParaRPr>
          </a:p>
          <a:p>
            <a:r>
              <a:rPr lang="en-GB" sz="240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90266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PHISHING AWARENESS  MODULE </vt:lpstr>
      <vt:lpstr>Learning Objectives By the end of the module , you will be able to: </vt:lpstr>
      <vt:lpstr>What is Phishing</vt:lpstr>
      <vt:lpstr>PowerPoint Presentation</vt:lpstr>
      <vt:lpstr>PowerPoint Presentation</vt:lpstr>
      <vt:lpstr>Warning Signs of Phishing</vt:lpstr>
      <vt:lpstr>Realistic Phishing Email Example</vt:lpstr>
      <vt:lpstr>PowerPoint Presentation</vt:lpstr>
      <vt:lpstr>PowerPoint Presentation</vt:lpstr>
      <vt:lpstr>Knowledge Quiz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2026-07-30T19:26:07Z</dcterms:created>
  <dcterms:modified xsi:type="dcterms:W3CDTF">2026-07-31T05:54:18Z</dcterms:modified>
</cp:coreProperties>
</file>